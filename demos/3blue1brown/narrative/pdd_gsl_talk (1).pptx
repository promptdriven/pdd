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krRMl7qk7C8tPnet3Bq6mTRE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189AA9-13AC-4DA4-A6C2-AF126C60F99E}">
  <a:tblStyle styleId="{31189AA9-13AC-4DA4-A6C2-AF126C60F99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944A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Maintenance</c:v>
                </c:pt>
                <c:pt idx="1">
                  <c:v>Initial Dev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Prompt-Driven Development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1031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Moving from Stochastic Code Patching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Deterministic Synthesis &amp; Verification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Greg Tanaka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Founder, PromptDriven.AI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GSL Talk Series  •  February 10,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 title="PromptDriven_Logo_Full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160" y="1956010"/>
            <a:ext cx="2991775" cy="299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Are We Still Patching?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05840" y="16916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1950s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05840" y="21488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Wool socks cost real money.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Darning made sense.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05840" y="3017520"/>
            <a:ext cx="310896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05840" y="32461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When socks got cheap enough...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she stopped.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1554480"/>
            <a:ext cx="3657600" cy="29260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029200" y="16916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0" y="21488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AI makes each patch faster.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But patches still accumulate.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0" y="3017520"/>
            <a:ext cx="310896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029200" y="32461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Code just got that cheap.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So why are we still patching?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Part 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Economics of Darning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the research actually says about AI-assisted coding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Greenfield Illusion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31520" y="13716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31520" y="14630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5AAA6E"/>
                </a:solidFill>
                <a:latin typeface="Georgia"/>
                <a:ea typeface="Georgia"/>
                <a:cs typeface="Georgia"/>
                <a:sym typeface="Georgia"/>
              </a:rPr>
              <a:t>55%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3152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faster on individual 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GitHub, 2022  •  95 devs  •  one greenfield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13716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754880" y="14630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5488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throughput change over one year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2651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Uplevel, 2024  •  785 devs  •  real enterprise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005840" y="370332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+41% more bugs </a:t>
            </a:r>
            <a:r>
              <a:rPr b="0" i="0" lang="en-US" sz="13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in enterprise work. </a:t>
            </a: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"People are ending up being more reviewers... you might have some false faith that the code is doing what you expect."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39-Point Perception Gap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3152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PERCEPTION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31520" y="18288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5AAA6E"/>
                </a:solidFill>
                <a:latin typeface="Georgia"/>
                <a:ea typeface="Georgia"/>
                <a:cs typeface="Georgia"/>
                <a:sym typeface="Georgia"/>
              </a:rPr>
              <a:t>+20%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31520" y="26517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Developers believed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saved them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56616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566160" y="18288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−19%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566160" y="26517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actually made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them slower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40080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DISCONNECT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0" y="18288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39pt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400800" y="26517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Gap between felt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and measured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METR, 2025 — Experienced open-source developers on mature repositories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Quality &amp; Churn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31520" y="128016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60120" y="1417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+44%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286000" y="14173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churn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86000" y="1783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New code revised within 2 weeks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6012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GitClear, 211M 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663440" y="128016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663440" y="1280160"/>
            <a:ext cx="73152" cy="146304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892040" y="1417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−60%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217920" y="14173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Refactoring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17920" y="1783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Developers stopped cleaning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89204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GitClear,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31520" y="301752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60120" y="3154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1.7×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2286000" y="3154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issues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286000" y="3520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 AI-generated code vs human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6012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CodeRabbit,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663440" y="30175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663440" y="3017520"/>
            <a:ext cx="73152" cy="146304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892040" y="3154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8×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217920" y="3154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 problems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217920" y="3520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Performance issues in AI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89204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CodeRabbit,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Context Rot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 when models retrieve the right information, performance degrades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31520" y="1645920"/>
            <a:ext cx="3657600" cy="256032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00584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Small Codebase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945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Context window covers ~80%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of the codebase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926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AI coding tools 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genuinely transformative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05840" y="3566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55% speedup measured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754880" y="1645920"/>
            <a:ext cx="3657600" cy="256032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02920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Large Codebase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0" y="21945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Context window covers ~2%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Model must guess what's relevant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0" y="2926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Experienced devs 19%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slower with AI 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0" y="3566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METR, 2025 — mature repos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Every patch makes the codebase bigger — pushing you from the world where AI helps into the world where it doesn't.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Why Context Length Alone Hurts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31520" y="1280160"/>
            <a:ext cx="73152" cy="109728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097280" y="137160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Even with perfect retrieval, performance degrades 14–85% from sheer context length. The extra tokens themselves hurt the model's ability to reason.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1234440" y="2743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Lost in the Middle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931920" y="2743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Mid-context information is systematically underweighted by attention mechanisms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566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1234440" y="3520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 Models Confirmed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931920" y="3520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Pattern holds across all state-of-the-art models tested — not a model-specific flaw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343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1234440" y="4297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Faster Patching = Faster Rot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931920" y="4297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AI-accelerated patching grows the codebase faster, accelerating the degradation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Maintenance Reality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9"/>
          <p:cNvGraphicFramePr/>
          <p:nvPr/>
        </p:nvGraphicFramePr>
        <p:xfrm>
          <a:off x="457200" y="1188720"/>
          <a:ext cx="411480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8" name="Google Shape;158;p9"/>
          <p:cNvSpPr/>
          <p:nvPr/>
        </p:nvSpPr>
        <p:spPr>
          <a:xfrm>
            <a:off x="4846320" y="137160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029200" y="1463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$1.52T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400800" y="14173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Annual US cost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poor software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400800" y="19659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CISQ, 2022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846320" y="256032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029200" y="2651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+40%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400800" y="2606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 cost with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technical debt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00800" y="31546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McKinsey,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846320" y="374904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0" y="3840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42%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0" y="37947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Developer time spent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 debt &amp; bad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0" y="43434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Stripe, 2018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Technical debt follows compound interest: Debt × (1 + Rate)^Time. Regeneration resets the debt.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Part II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Paradigm Shift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schematics to Verilog — and now from code to prompts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Abstraction Staircase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time component counts exceeded what the current abstraction could handle, the industry moved up.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57200" y="3840480"/>
            <a:ext cx="1508760" cy="502920"/>
          </a:xfrm>
          <a:prstGeom prst="rect">
            <a:avLst/>
          </a:prstGeom>
          <a:solidFill>
            <a:srgbClr val="94A3B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57200" y="391363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Transistors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57200" y="41605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1960s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2148840" y="3246120"/>
            <a:ext cx="1508760" cy="1097280"/>
          </a:xfrm>
          <a:prstGeom prst="rect">
            <a:avLst/>
          </a:prstGeom>
          <a:solidFill>
            <a:srgbClr val="47556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2148840" y="331927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Schematics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148840" y="35661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1970–80s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840480" y="2651760"/>
            <a:ext cx="1508760" cy="1691640"/>
          </a:xfrm>
          <a:prstGeom prst="rect">
            <a:avLst/>
          </a:prstGeom>
          <a:solidFill>
            <a:srgbClr val="2AA19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3840480" y="272491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RTL / Verilog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3840480" y="297180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1985–90s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532120" y="2057400"/>
            <a:ext cx="1508760" cy="2286000"/>
          </a:xfrm>
          <a:prstGeom prst="rect">
            <a:avLst/>
          </a:prstGeom>
          <a:solidFill>
            <a:srgbClr val="4A90D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532120" y="213055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Behavioral / HLS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532120" y="2377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2000s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223760" y="1463040"/>
            <a:ext cx="1508760" cy="2880360"/>
          </a:xfrm>
          <a:prstGeom prst="rect">
            <a:avLst/>
          </a:prstGeom>
          <a:solidFill>
            <a:srgbClr val="4A90D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7223760" y="153619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Natural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7223760" y="17830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2020s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463040" y="34290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3154680" y="28346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846320" y="22402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537960" y="16459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"Couldn't scale" drives each transition — the designer stops specifying HOW and starts specifying WHAT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Synthesis Was Non-Deterministic Too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731520" y="1463040"/>
            <a:ext cx="2286000" cy="146304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Verilog RTL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868680" y="19202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always @(posedge clk)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  if (rst) q &lt;=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  else q &lt;= d;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1089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10896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10896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3657600" y="1371600"/>
            <a:ext cx="228600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3794760" y="1371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Gate netlist #1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794760" y="16276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different gates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3657600" y="1965960"/>
            <a:ext cx="228600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794760" y="19659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Gate netlist #2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794760" y="22219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different gates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657600" y="2560320"/>
            <a:ext cx="228600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3794760" y="2560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onsolas"/>
                <a:ea typeface="Consolas"/>
                <a:cs typeface="Consolas"/>
                <a:sym typeface="Consolas"/>
              </a:rPr>
              <a:t>Gate netlist #3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3794760" y="281635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different gates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1264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675120" y="1463040"/>
            <a:ext cx="2011680" cy="1463040"/>
          </a:xfrm>
          <a:prstGeom prst="rect">
            <a:avLst/>
          </a:prstGeom>
          <a:solidFill>
            <a:srgbClr val="2AA198">
              <a:alpha val="20000"/>
            </a:srgbClr>
          </a:solidFill>
          <a:ln cap="flat" cmpd="sng" w="25400">
            <a:solidFill>
              <a:srgbClr val="2AA1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667512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Formal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675120" y="210312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SAT/SMT proof: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All outputs 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functionally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equivalent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1005840" y="361188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The chip industry solved non-deterministic generation by wrapping a verification toolchain around the generator. Same stochastic output problem. Same mathematical solution.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005840" y="416052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By 1995, half of chip designs used HDL. Today, all but the most trivial chips use synthesis.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 Micro: 90% of digital IP starts at behavioral level. (Accellera, 2010)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Where Value Lives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731520" y="1280160"/>
            <a:ext cx="3657600" cy="502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73152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CRAFTING (Traditional Dev)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005840" y="19659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codebase is hand-written, unique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 fixes mean surgical edits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005840" y="2880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accumulates patches &amp; workarounds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005840" y="3337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 lives in the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005840" y="3794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Losing the codebase = losing everything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4754880" y="1280160"/>
            <a:ext cx="36576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75488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MOLDING (PDD)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029200" y="19659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+ tests define 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029200" y="2423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Bugs add test walls, regenerate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029200" y="2880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regenerates clean every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029200" y="3337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 lives in the prompt &amp;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029200" y="3794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is disposable — regenerate at will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The prompt encodes intent. The tests preserve behavior. Code is just what comes 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Prompt Space vs Code Space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fundamental technical advantages of working in natural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57200" y="155448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457200" y="1828800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4A90D9"/>
                </a:solidFill>
                <a:latin typeface="Georgia"/>
                <a:ea typeface="Georgia"/>
                <a:cs typeface="Georgia"/>
                <a:sym typeface="Georgia"/>
              </a:rPr>
              <a:t>5–10×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57200" y="25146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Compact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40080" y="29718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prompt is 1/5 to 1/10 the size of the code it governs. Where raw code overwhelms the context window, prompts for 10 modules fit comfortably.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246120" y="155448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3246120" y="1554480"/>
            <a:ext cx="2697480" cy="73152"/>
          </a:xfrm>
          <a:prstGeom prst="rect">
            <a:avLst/>
          </a:prstGeom>
          <a:solidFill>
            <a:srgbClr val="5A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3246120" y="1828800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5AAA6E"/>
                </a:solidFill>
                <a:latin typeface="Georgia"/>
                <a:ea typeface="Georgia"/>
                <a:cs typeface="Georgia"/>
                <a:sym typeface="Georgia"/>
              </a:rPr>
              <a:t>30×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3246120" y="25146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Model's Native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3429000" y="29718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LLMs are trained on up to 30× more natural language than code. NL context boosts coding accuracy by 89% (MIT, ICLR 2024). NL comments alone improve generation 41% (ACL 2024).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035040" y="155448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6035040" y="1554480"/>
            <a:ext cx="2697480" cy="73152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6035040" y="1828800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035040" y="25146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Retrieval Guessing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6217920" y="29718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prompt declares its own dependencies. No embedding search, no agentic file crawling, no context rot. The developer defines what the model sees — not a retrieval 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457200" y="4617720"/>
            <a:ext cx="8275320" cy="41148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Prompts are smaller, in the model's strongest modality, and self-contained. These advantages compound.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Part III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Mold Has Three Parts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capital, prompt capital, and grounding capital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Three Types of Capital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/>
          <p:nvPr/>
        </p:nvSpPr>
        <p:spPr>
          <a:xfrm>
            <a:off x="457200" y="23317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Capital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57200" y="26517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The Walls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85800" y="31089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Behavioral constraints that generated code cannot violate. Each bug adds a permanent wall.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/>
          <p:nvPr/>
        </p:nvSpPr>
        <p:spPr>
          <a:xfrm>
            <a:off x="3337560" y="23317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Capital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337560" y="26517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The Specification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566160" y="31089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Intent, requirements, and contracts. What you want and why. 1/5 to 1/10 the size of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5A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376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/>
          <p:nvPr/>
        </p:nvSpPr>
        <p:spPr>
          <a:xfrm>
            <a:off x="6217920" y="23317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Grounding Capital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6217920" y="26517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The Material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446520" y="31089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Implementation patterns from past successful generations. Style, conventions, structure.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 Capital: The Walls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1463040" y="13898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62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629"/>
                </a:solidFill>
                <a:latin typeface="Consolas"/>
                <a:ea typeface="Consolas"/>
                <a:cs typeface="Consolas"/>
                <a:sym typeface="Consolas"/>
              </a:rPr>
              <a:t>TEST: null input → 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371600" y="1783080"/>
            <a:ext cx="3657600" cy="36576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1463040" y="18013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62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629"/>
                </a:solidFill>
                <a:latin typeface="Consolas"/>
                <a:ea typeface="Consolas"/>
                <a:cs typeface="Consolas"/>
                <a:sym typeface="Consolas"/>
              </a:rPr>
              <a:t>TEST: empty string → 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371600" y="2194560"/>
            <a:ext cx="3657600" cy="36576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1463040" y="221284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62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629"/>
                </a:solidFill>
                <a:latin typeface="Consolas"/>
                <a:ea typeface="Consolas"/>
                <a:cs typeface="Consolas"/>
                <a:sym typeface="Consolas"/>
              </a:rPr>
              <a:t>TEST: handles unicode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1371600" y="2606040"/>
            <a:ext cx="3657600" cy="822960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D994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1371600" y="26974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generated code fills this space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1463040" y="34930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62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629"/>
                </a:solidFill>
                <a:latin typeface="Consolas"/>
                <a:ea typeface="Consolas"/>
                <a:cs typeface="Consolas"/>
                <a:sym typeface="Consolas"/>
              </a:rPr>
              <a:t>TEST: latency &lt; 100ms for 10k items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669280" y="1371600"/>
            <a:ext cx="3017520" cy="24688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5852160" y="1463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5852160" y="1828800"/>
            <a:ext cx="2651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AI without strong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increases instability.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AI with strong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amplifies delivery.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5852160" y="3200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DORA,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Tests are specification, not just verification. The LLM sees them as constraints during generation.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Ratchet Effect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31520" y="12801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731520" y="13167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BUG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005840" y="1920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 discovered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1005840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Hand-carve fix into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005840" y="2651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Hope you carved correctly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1005840" y="30175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Hope you didn't break anything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1005840" y="3383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Similar bug appears elsewhere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Patch again...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754880" y="12801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4754880" y="13167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PDD BUG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5029200" y="1920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 discovered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5029200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Add failing test (add wall)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5029200" y="2651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Regenerate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029200" y="30175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New code conforms to wall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029200" y="3383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→ Bug can NEVER recur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5029200" y="3749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→ Wall is permanent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Tests only accumulate. The mold only gets more precise. Each wall constrains all future generations.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Formal Verification: Same Math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731520" y="1371600"/>
            <a:ext cx="3657600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1005840" y="1600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Hardware: Synopsys Formality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1005840" y="21031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SMT solver proves: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RTL ≡ gates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for all possible 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Mathematical proof,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not sampling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754880" y="1371600"/>
            <a:ext cx="3657600" cy="256032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4754880" y="1371600"/>
            <a:ext cx="3657600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5029200" y="1600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Software: PDD + Z3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5029200" y="21031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SMT solver proves: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code satisfies spec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for all possible 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Same math,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same certainty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chip design analogy isn't a metaphor — it's the same technology. Z3 (Microsoft Research) provides the same class of SMT solver used in billion-dollar tapeouts.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Prompt Capital: The Specification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731520" y="1280160"/>
            <a:ext cx="45720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731520" y="1280160"/>
            <a:ext cx="73152" cy="3017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1005840" y="1371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user_parser.prompt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1005840" y="173736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% Role: Expert Python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% Scope: Parse user IDs from untrusted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Requirements: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1) parseUserId(input) → str | 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2) Accept "user:abc123" → "abc123"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3) null/non-string → None, never throw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4) Trim whitespace; reject blank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5) O(n) in input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6) No eval/exec; untrusted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5669280" y="13716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1:5 to 1:10 ratio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669280" y="16459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 is a fraction of the code it generates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5669280" y="21488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Natural 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5669280" y="24231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Models trained on 30× more NL than code — you're speaking their strongest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5669280" y="29260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Author-defined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5669280" y="3200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guessing. Prompt declares its own dependencies via &lt;include&gt;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5669280" y="3703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+89%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5669280" y="39776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NL context improves coding task accuracy (MIT CSAIL, ICLR 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Grounding Capital: The Material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prompt + same tests + different grounding = different implementation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31520" y="16459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731520" y="1645920"/>
            <a:ext cx="73152" cy="1463040"/>
          </a:xfrm>
          <a:prstGeom prst="rect">
            <a:avLst/>
          </a:prstGeom>
          <a:solidFill>
            <a:srgbClr val="5A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1005840" y="1737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Grounding: OOP codebase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005840" y="21031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Generates classes with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Inherits team's naming conventions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Uses established helper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4754880" y="16459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4754880" y="1645920"/>
            <a:ext cx="73152" cy="146304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5029200" y="1737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1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A198"/>
                </a:solidFill>
                <a:latin typeface="Calibri"/>
                <a:ea typeface="Calibri"/>
                <a:cs typeface="Calibri"/>
                <a:sym typeface="Calibri"/>
              </a:rPr>
              <a:t>Grounding: Functional codebase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5029200" y="21031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Generates pure functions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Uses composition over inheritance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Matches functional idioms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1005840" y="35204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How Automated Grounding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1005840" y="388620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1. You run pdd generate  →  2. System embeds your prompt  →  3. Cosine similarity finds closest (prompt, code) pair  →  4. Auto-injected as few-shot example  →  5. Generated code inherits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First generation: similar existing modules provide grounding. Re-generation: your prior success is the closest match.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Context Window Advantage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AGENTIC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solidFill>
            <a:srgbClr val="94A3B8">
              <a:alpha val="40000"/>
            </a:srgbClr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1188720" y="1874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System prompts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005840" y="2331720"/>
            <a:ext cx="3108960" cy="548640"/>
          </a:xfrm>
          <a:prstGeom prst="rect">
            <a:avLst/>
          </a:prstGeom>
          <a:solidFill>
            <a:srgbClr val="94A3B8">
              <a:alpha val="40000"/>
            </a:srgbClr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118872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Tool definitions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005840" y="2926080"/>
            <a:ext cx="3108960" cy="365760"/>
          </a:xfrm>
          <a:prstGeom prst="rect">
            <a:avLst/>
          </a:prstGeom>
          <a:solidFill>
            <a:srgbClr val="94A3B8">
              <a:alpha val="40000"/>
            </a:srgbClr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1188720" y="2971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MCP configs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1005840" y="3337560"/>
            <a:ext cx="3108960" cy="731520"/>
          </a:xfrm>
          <a:prstGeom prst="rect">
            <a:avLst/>
          </a:prstGeom>
          <a:solidFill>
            <a:srgbClr val="E74C3C">
              <a:alpha val="40000"/>
            </a:srgbClr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118872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Chat history (grows!)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005840" y="4114800"/>
            <a:ext cx="3108960" cy="548640"/>
          </a:xfrm>
          <a:prstGeom prst="rect">
            <a:avLst/>
          </a:prstGeom>
          <a:solidFill>
            <a:srgbClr val="4A90D9">
              <a:alpha val="40000"/>
            </a:srgbClr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1188720" y="4160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Your actual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PDD BATCH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029200" y="1828800"/>
            <a:ext cx="3108960" cy="2468880"/>
          </a:xfrm>
          <a:prstGeom prst="rect">
            <a:avLst/>
          </a:prstGeom>
          <a:solidFill>
            <a:srgbClr val="4A90D9">
              <a:alpha val="40000"/>
            </a:srgbClr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5212080" y="2011680"/>
            <a:ext cx="2743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100% for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Prompt + Grounding + Tests + Deps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No overhead. No chat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No tool definitions.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every token serves your intent, generation quality scales with problem complexity.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Precision Tradeoff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731520" y="11887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3D Printing (Few Tests)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1005840" y="169164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point must be specified.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must describe every edge case,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error condition, every behavior.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50-line prompt needed.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4754880" y="11887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Injection Molding (Many Tests)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5029200" y="169164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Material flows until it hits walls.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only specifies intent.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Tests handle all constraints.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10-line prompt suffices.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1005840" y="35204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test coverage increases, prompt precision requirements decrease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005840" y="39776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This is why test accumulation matters — it's not just about catching bugs. It's about making prompts simpler and regeneration safer over time. More walls → less specification needed → more reliable output.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Compound Returns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8" name="Google Shape;458;p24"/>
          <p:cNvGraphicFramePr/>
          <p:nvPr/>
        </p:nvGraphicFramePr>
        <p:xfrm>
          <a:off x="7315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{31189AA9-13AC-4DA4-A6C2-AF126C60F99E}</a:tableStyleId>
              </a:tblPr>
              <a:tblGrid>
                <a:gridCol w="2286000"/>
                <a:gridCol w="2697475"/>
                <a:gridCol w="2697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Investment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Patching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PDD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Fix a bug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74C3C"/>
                          </a:solidFill>
                        </a:rPr>
                        <a:t>One place, once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B5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8B57"/>
                          </a:solidFill>
                        </a:rPr>
                        <a:t>Impossible forever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Improve code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74C3C"/>
                          </a:solidFill>
                        </a:rPr>
                        <a:t>One version 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B5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8B57"/>
                          </a:solidFill>
                        </a:rPr>
                        <a:t>All future versions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Document behavior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74C3C"/>
                          </a:solidFill>
                        </a:rPr>
                        <a:t>One snapshot in time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B5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8B57"/>
                          </a:solidFill>
                        </a:rPr>
                        <a:t>Living specification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Refactor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74C3C"/>
                          </a:solidFill>
                        </a:rPr>
                        <a:t>Risk of new bugs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B5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8B57"/>
                          </a:solidFill>
                        </a:rPr>
                        <a:t>Clean regeneration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9" name="Google Shape;459;p24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1005840" y="3611880"/>
            <a:ext cx="7132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Patch returns: </a:t>
            </a: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Linear at best, often sublinear. Each fix risks new bugs.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AA6E"/>
                </a:solidFill>
                <a:latin typeface="Calibri"/>
                <a:ea typeface="Calibri"/>
                <a:cs typeface="Calibri"/>
                <a:sym typeface="Calibri"/>
              </a:rPr>
              <a:t>PDD returns: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Compound. Every test constrains all future generations permanently.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Demo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Prompt → Generate → Bug → Test → Regenerate → Verify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pdd generate  •  pdd bug  •  pdd fix  •  pdd 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PDD Workflow: Features vs Bugs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731520" y="118872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731520" y="1188720"/>
            <a:ext cx="73152" cy="2560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1051560" y="1280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NEW FEATURE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1051560" y="1600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Start: The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1051560" y="196596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Add/update requirements in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pdd generate (LLM sees existing tests)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Write new tests to verify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pdd fix if tests fail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Update prompt with learnings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4754880" y="118872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4754880" y="1188720"/>
            <a:ext cx="73152" cy="2560320"/>
          </a:xfrm>
          <a:prstGeom prst="rect">
            <a:avLst/>
          </a:prstGeom>
          <a:solidFill>
            <a:srgbClr val="D99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5074920" y="1280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944A"/>
                </a:solidFill>
                <a:latin typeface="Calibri"/>
                <a:ea typeface="Calibri"/>
                <a:cs typeface="Calibri"/>
                <a:sym typeface="Calibri"/>
              </a:rPr>
              <a:t>BUG FIX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5074920" y="1600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Start: The Test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5074920" y="196596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pdd bug (creates failing test)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Clarify prompt if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pdd fix (LLM must pass new test)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Bug permanently eliminated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Test accumulates for future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Features = new intent (prompt first).  Bugs = missed intent (test first).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PDD vs Interactive AI Coding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2" name="Google Shape;492;p27"/>
          <p:cNvGraphicFramePr/>
          <p:nvPr/>
        </p:nvGraphicFramePr>
        <p:xfrm>
          <a:off x="7315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{31189AA9-13AC-4DA4-A6C2-AF126C60F99E}</a:tableStyleId>
              </a:tblPr>
              <a:tblGrid>
                <a:gridCol w="1645925"/>
                <a:gridCol w="3017525"/>
                <a:gridCol w="3017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Interactive (Cursor, Claude Code)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PDD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62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Source of truth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The code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The prompt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Prompts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Ephemeral patch instructions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Versioned, explicit, permanent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Context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Implicit, guessed by agent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Explicit, author-defined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Workflow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Live chat loops, local diffs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Batch, reproducible generation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Scale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Degrades with codebase size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Prompt size stays constant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Tests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Often added after the fact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Accumulate as constraints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Quick hotfixes, exploration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Modules, refactors, long-term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27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Not a replacement — a complement. Use interactive for hotfixes; follow up with prompt update to keep the source of truth synchronized.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Complete Analogy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1" name="Google Shape;501;p28"/>
          <p:cNvGraphicFramePr/>
          <p:nvPr/>
        </p:nvGraphicFramePr>
        <p:xfrm>
          <a:off x="7315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{31189AA9-13AC-4DA4-A6C2-AF126C60F99E}</a:tableStyleId>
              </a:tblPr>
              <a:tblGrid>
                <a:gridCol w="2560325"/>
                <a:gridCol w="2560325"/>
                <a:gridCol w="25603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Injection Molding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A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Chip Synthesis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A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PDD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A19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Mold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RTL specification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Prompt + Tests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Mold walls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Assertions / FEC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Test cases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Plastic material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Synthesis tool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LLM capability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Molded object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Gate-level netlist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Generated code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Mold refinement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Adding assertions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Adding tests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QC inspection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Formality / FEC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pdd verify / pdd test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Discard defective unit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Re-synthesize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DF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EDF3"/>
                          </a:solidFill>
                        </a:rPr>
                        <a:t>Regenerate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502" name="Google Shape;502;p2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Three industries, same pattern: value migrates from artifact to specification when generation becomes cheap.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Open Questions &amp; Future Directions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9" name="Google Shape;5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618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9"/>
          <p:cNvSpPr/>
          <p:nvPr/>
        </p:nvSpPr>
        <p:spPr>
          <a:xfrm>
            <a:off x="123444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does patching still make sense?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4389120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Trivial hotfixes, one-line typos — but follow with a prompt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731520" y="1783080"/>
            <a:ext cx="7680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3" name="Google Shape;5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9"/>
          <p:cNvSpPr/>
          <p:nvPr/>
        </p:nvSpPr>
        <p:spPr>
          <a:xfrm>
            <a:off x="1234440" y="193852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Formal verification boundaries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4389120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can Z3 prove for software vs hardware? Where are the limits?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731520" y="2532888"/>
            <a:ext cx="7680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7614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9"/>
          <p:cNvSpPr/>
          <p:nvPr/>
        </p:nvSpPr>
        <p:spPr>
          <a:xfrm>
            <a:off x="1234440" y="268833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Grounding at organizational 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4389120" y="268833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do patterns propagate across teams, repos, and organizations?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731520" y="3282696"/>
            <a:ext cx="7680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1" name="Google Shape;5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5112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9"/>
          <p:cNvSpPr/>
          <p:nvPr/>
        </p:nvSpPr>
        <p:spPr>
          <a:xfrm>
            <a:off x="1234440" y="343814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complexity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4389120" y="343814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prompts themselves become complex, how do we keep them maintainable?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731520" y="4032504"/>
            <a:ext cx="7680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26110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9"/>
          <p:cNvSpPr/>
          <p:nvPr/>
        </p:nvSpPr>
        <p:spPr>
          <a:xfrm>
            <a:off x="1234440" y="4187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SDD as an industry category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4389120" y="41879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Specification-Driven Development emerging (Thoughtworks, GitHub spec-kit, InfoQ)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4A90D9"/>
                </a:solidFill>
                <a:latin typeface="Georgia"/>
                <a:ea typeface="Georgia"/>
                <a:cs typeface="Georgia"/>
                <a:sym typeface="Georgia"/>
              </a:rPr>
              <a:t>Prompts encode intent.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44A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D9944A"/>
                </a:solidFill>
                <a:latin typeface="Georgia"/>
                <a:ea typeface="Georgia"/>
                <a:cs typeface="Georgia"/>
                <a:sym typeface="Georgia"/>
              </a:rPr>
              <a:t>Tests preserve behavior.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A6E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5AAA6E"/>
                </a:solidFill>
                <a:latin typeface="Georgia"/>
                <a:ea typeface="Georgia"/>
                <a:cs typeface="Georgia"/>
                <a:sym typeface="Georgia"/>
              </a:rPr>
              <a:t>Grounding maintains style.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731520" y="3200400"/>
            <a:ext cx="2743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0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E8EDF3"/>
                </a:solidFill>
                <a:latin typeface="Georgia"/>
                <a:ea typeface="Georgia"/>
                <a:cs typeface="Georgia"/>
                <a:sym typeface="Georgia"/>
              </a:rPr>
              <a:t>Code is generated, verified, and disposable.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code is just plastic. The mold is what matters.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1"/>
          <p:cNvSpPr/>
          <p:nvPr/>
        </p:nvSpPr>
        <p:spPr>
          <a:xfrm>
            <a:off x="731520" y="7315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1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Greg Tanaka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731520" y="2514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Founder, PromptDriven.AI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glt@promptdriven.ai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7075322" y="2240226"/>
            <a:ext cx="1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linkedin.com/in/gltanaka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4001250" y="2189225"/>
            <a:ext cx="25788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uv tool install pdd-cli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5063400" y="3086088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1"/>
          <p:cNvPicPr preferRelativeResize="0"/>
          <p:nvPr/>
        </p:nvPicPr>
        <p:blipFill rotWithShape="1">
          <a:blip r:embed="rId3">
            <a:alphaModFix/>
          </a:blip>
          <a:srcRect b="9377" l="30524" r="29636" t="39067"/>
          <a:stretch/>
        </p:blipFill>
        <p:spPr>
          <a:xfrm>
            <a:off x="7044974" y="149301"/>
            <a:ext cx="1942001" cy="198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1" title="Untitled.png"/>
          <p:cNvPicPr preferRelativeResize="0"/>
          <p:nvPr/>
        </p:nvPicPr>
        <p:blipFill rotWithShape="1">
          <a:blip r:embed="rId4">
            <a:alphaModFix/>
          </a:blip>
          <a:srcRect b="15782" l="19013" r="19254" t="22686"/>
          <a:stretch/>
        </p:blipFill>
        <p:spPr>
          <a:xfrm>
            <a:off x="4001250" y="149300"/>
            <a:ext cx="2146640" cy="19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2026-02-10T07:43:45Z</dcterms:created>
  <dc:creator>Greg Tanaka</dc:creator>
</cp:coreProperties>
</file>